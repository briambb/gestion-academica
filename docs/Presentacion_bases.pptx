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8" r:id="rId7"/>
    <p:sldId id="260" r:id="rId8"/>
    <p:sldId id="269" r:id="rId9"/>
    <p:sldId id="261" r:id="rId10"/>
    <p:sldId id="270" r:id="rId11"/>
    <p:sldId id="262" r:id="rId12"/>
    <p:sldId id="271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1E65A34-329F-9FC3-7112-BCA55F16E5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7D2F92-DA2A-F191-A122-5B4A056209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C713F-241C-48E9-BCB7-DAEEBE5B117D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092A40-ABE0-38AC-9A88-97405A680C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5B1014-252A-8C82-14EE-36E200E73F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64EF7-9EC7-4A30-8829-0A2A3A68C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805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2621A-68AF-4BDC-913B-6595B5178707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85AAF-87CE-4D7B-81CC-3DF88653A5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682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A4785-51F2-F583-9B3F-41C70B79A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D4F807-83A9-A057-5875-AFAB3D0EB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667AC3-6A45-99AA-180C-3D9108AD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80BAA0-F625-F6BC-E156-ABB5336C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CCB39E-5937-88E7-020D-C6FD3DB1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480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430F-4591-A90F-4D28-212A2008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1AF9FE-2196-4FE3-0976-F607DD7BA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B0CE2-FB75-A08D-576E-FAF4A04BE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BCB671-4B22-20FC-8FAB-B9D54A71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D3ED8F-3449-CB15-2A50-5605F1A6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7490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16F1F-12C1-CC04-1AC9-5AD66601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7F6C36-8CF7-7D1C-CD90-E733347E2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77894-EC1D-D0AF-CB01-99315B05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574A81-ECAA-AC84-21F9-90D66E1F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730EF-748E-1DDC-9CBB-A3D6962B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7358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EF798-3736-61CA-2D2E-F0927060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BCED9D-69F8-173A-7B47-05AE54840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2FDC4-0A11-338F-64F8-365440126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1B2C50-7A98-A232-40DD-13155A66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5AB85B-D920-0FE4-3505-92DFE919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45FDF2-F8DF-8807-991A-2880C617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8686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200E3-FDAA-209E-3745-B169C87D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57B85B-E5AA-1BC9-7AEF-E98FDFE6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88778F-70F9-2C65-50A1-C3E40E805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244F51-14DC-3918-17B3-6EFFEA5DD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58B141-E80D-8281-11A9-E6CB4FAEA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3ABE29-326C-C811-2F68-30B18E3E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7C0F34-9612-3E96-0AED-F59770D9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F8846B-917F-901C-0A25-7A21B654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152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BD43F-3061-0FA4-46E7-AAF59115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07823E-CE91-225E-B601-F79F4774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B9A370-6564-C69B-B57C-7BAD11CE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4AD8B9-50E3-7852-FB69-0EC3FEBD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13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BEEF01-11D7-90FD-7225-2DC7B840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9F6870-DCF5-F072-08E5-711D6877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077D1-3286-7333-DA33-5B6DD4F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7138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0B561-A90E-BCC7-717B-956BB1B1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394FDE-8FCC-DCAE-45ED-200BCC610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243091-9E74-F145-3BD2-370C8CCDC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DE2A15-C79C-84B7-1FC2-57EDCFB8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F536CF-010D-F044-B057-18E63C3D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75DE65-67A4-5DA2-B5AC-DECCFFAF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5159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3793A-DE1B-03D4-E12D-5D6D8557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D51826-68E2-71D4-EDE1-BC3FF108C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08402A-17D1-C437-F78E-2DA5D463E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1986BE-A57B-0807-0E52-6E32B63F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6EF6A-97A1-A706-9F71-FF3F5028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796CA-9944-58ED-671F-59D7729B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38077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2C3CE-CFB7-B07E-295E-24C3A481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7CE461-BA71-9552-65A3-2D1EB30A2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09E14E-241F-CB09-B570-E84B68E6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3AE60E-1D8A-8306-47C4-64664BE6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00D878-731B-ECBC-01AF-DC606A37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210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632192-8FC9-6794-A3D5-05539C4AB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49FA3F-AEC3-0F21-0793-9FECDCFBF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8D948-358B-C3AE-6DA0-503D8761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93818-09F0-1BF1-4649-4147A33D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A906D-8439-A392-28CE-4C64F85A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072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F1399B7-D787-5A16-4625-69ABB8B9F3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09" y="-889952"/>
            <a:ext cx="4863537" cy="275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659A2E-0DBB-CC20-93B8-5D492C0B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18D764-FA79-06F6-08CE-543C8D22E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8757D7-5F0E-592B-C4AA-7116FC8DC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54964-907D-4082-8E64-FD5A5A5E1D4C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D8842-2905-0CEA-EF2B-73D07AC4E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53768-4D99-195E-ACE2-5BD6EEBB3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27AE3-D2F5-4E97-94F4-B7354FC50F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927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280160"/>
            <a:ext cx="4846320" cy="4846320"/>
          </a:xfrm>
          <a:prstGeom prst="ellipse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3383280" cy="3383280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4480560"/>
            <a:ext cx="1280160" cy="1280160"/>
          </a:xfrm>
          <a:prstGeom prst="ellipse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6400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CA49A"/>
                </a:solidFill>
                <a:latin typeface="Aptos"/>
              </a:rPr>
              <a:t>PROYECTO DE BASES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2331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Sistema de
Matrícula Académica
Universitaria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886200"/>
            <a:ext cx="67665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D5E0EF"/>
                </a:solidFill>
                <a:latin typeface="Aptos"/>
              </a:rPr>
              <a:t>Diseño e implementación de una base de datos relacional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681728"/>
            <a:ext cx="685800" cy="54864"/>
          </a:xfrm>
          <a:prstGeom prst="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4983480"/>
            <a:ext cx="76809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Ángel Ricardo Joya Patiño · Michael Stiven León Jiménez
Juan Sebastián Castro Dávila · Brian Steivin Blanco Chamorro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080760"/>
            <a:ext cx="7315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BCCBDD"/>
                </a:solidFill>
                <a:latin typeface="Aptos"/>
              </a:rPr>
              <a:t>Fundación Universitaria Compensar  |  Facultad de Ingeniería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9F223D2-03DE-4789-AEF6-DB143ADC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709" y="-889952"/>
            <a:ext cx="4863537" cy="275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¿Qué problema busca resolver?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22038"/>
                </a:solidFill>
                <a:latin typeface="Aptos"/>
              </a:rPr>
              <a:t>La matrícula necesita información confiable para inscribir materias, controlar cupos y revisar prerrequisitos.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514600"/>
            <a:ext cx="73152" cy="210312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Prerrequisitos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3044952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53142"/>
                </a:solidFill>
                <a:latin typeface="Aptos"/>
              </a:rPr>
              <a:t>Evitar inscripciones a cursos sin haber aprobado las materias requeridas.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514600"/>
            <a:ext cx="73152" cy="210312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Cupos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3044952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53142"/>
                </a:solidFill>
                <a:latin typeface="Aptos"/>
              </a:rPr>
              <a:t>Impedir que un grupo supere su capacidad disponible.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514600"/>
            <a:ext cx="73152" cy="2103120"/>
          </a:xfrm>
          <a:prstGeom prst="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791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Horarios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108960"/>
            <a:ext cx="3044952" cy="13898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53142"/>
                </a:solidFill>
                <a:latin typeface="Aptos"/>
              </a:rPr>
              <a:t>Identificar posibles cruces entre los grupos elegidos.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074920"/>
            <a:ext cx="2377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CA49A"/>
                </a:solidFill>
                <a:latin typeface="Aptos"/>
              </a:rPr>
              <a:t>Objetivo del proyecto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40680"/>
            <a:ext cx="10515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0" i="0">
                <a:solidFill>
                  <a:srgbClr val="253142"/>
                </a:solidFill>
                <a:latin typeface="Aptos"/>
              </a:rPr>
              <a:t>Convertir el modelo entidad-relación del momento 1 en una base de datos funcional y comprobarla mediante scripts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02 · FUNCIONAMIENTO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Actores y procesos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2011680"/>
            <a:ext cx="384048" cy="384048"/>
          </a:xfrm>
          <a:prstGeom prst="ellipse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4752" y="1938528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22038"/>
                </a:solidFill>
                <a:latin typeface="Aptos"/>
              </a:rPr>
              <a:t>ESTUDIANTE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2316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53142"/>
                </a:solidFill>
                <a:latin typeface="Aptos"/>
              </a:rPr>
              <a:t>Solicita inscribir
materias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3168" y="2011680"/>
            <a:ext cx="384048" cy="384048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2" y="1938528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 dirty="0">
                <a:solidFill>
                  <a:srgbClr val="122038"/>
                </a:solidFill>
                <a:latin typeface="Aptos"/>
              </a:rPr>
              <a:t>REGISTRO ACADÉMICO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42316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53142"/>
                </a:solidFill>
                <a:latin typeface="Aptos"/>
              </a:rPr>
              <a:t>Verifica historial y
prerrequisitos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8308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13648" y="2011680"/>
            <a:ext cx="384048" cy="384048"/>
          </a:xfrm>
          <a:prstGeom prst="ellipse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2" y="1938528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22038"/>
                </a:solidFill>
                <a:latin typeface="Aptos"/>
              </a:rPr>
              <a:t>FACULTAD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423160"/>
            <a:ext cx="2743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0" i="0">
                <a:solidFill>
                  <a:srgbClr val="253142"/>
                </a:solidFill>
                <a:latin typeface="Aptos"/>
              </a:rPr>
              <a:t>Administra cursos,
grupos y horarios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CA49A"/>
                </a:solidFill>
                <a:latin typeface="Aptos"/>
              </a:rPr>
              <a:t>FLUJO GENERAL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1874519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1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4462272"/>
            <a:ext cx="347472" cy="347472"/>
          </a:xfrm>
          <a:prstGeom prst="ellipse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489704"/>
            <a:ext cx="34747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4407408"/>
            <a:ext cx="123444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Solicitud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4462272"/>
            <a:ext cx="2926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9232" y="4206240"/>
            <a:ext cx="1874519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1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108960" y="4462272"/>
            <a:ext cx="347472" cy="347472"/>
          </a:xfrm>
          <a:prstGeom prst="ellipse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0" y="4489704"/>
            <a:ext cx="34747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4407408"/>
            <a:ext cx="123444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Validar requisitos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4462272"/>
            <a:ext cx="2926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66944" y="4206240"/>
            <a:ext cx="1874519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1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376672" y="4462272"/>
            <a:ext cx="347472" cy="347472"/>
          </a:xfrm>
          <a:prstGeom prst="ellipse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76672" y="4489704"/>
            <a:ext cx="34747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4407408"/>
            <a:ext cx="123444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Revisar cupo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4462272"/>
            <a:ext cx="2926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4206240"/>
            <a:ext cx="1874519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1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44383" y="4462272"/>
            <a:ext cx="347472" cy="347472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44383" y="4489704"/>
            <a:ext cx="34747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407408"/>
            <a:ext cx="123444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Registrar matrícula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4462272"/>
            <a:ext cx="29260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8" y="4206240"/>
            <a:ext cx="1874519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1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12096" y="4462272"/>
            <a:ext cx="347472" cy="347472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12096" y="4489704"/>
            <a:ext cx="34747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4407408"/>
            <a:ext cx="123444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Consultar horario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03 · 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Las siete tablas de gestion_academica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9144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FACULTAD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Datos de facultades y decanos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9164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82296" cy="9144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ESTUDIANTE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055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Datos personales y programa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69164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1691640"/>
            <a:ext cx="82296" cy="9144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59" y="182880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CURSO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213055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Asignaturas, créditos y facultad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2608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926080"/>
            <a:ext cx="82296" cy="9144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6499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Curso, docente, horario y cupos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92608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2926080"/>
            <a:ext cx="82296" cy="91440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MATRÍCULA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36499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Inscripción de estudiante a grupo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292608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2926080"/>
            <a:ext cx="82296" cy="91440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59" y="306324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REGISTRO ACADÉMICO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59" y="3364992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Notas y estado por curso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160520"/>
            <a:ext cx="3063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06240" y="4160520"/>
            <a:ext cx="82296" cy="91440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297680"/>
            <a:ext cx="274320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122038"/>
                </a:solidFill>
                <a:latin typeface="Aptos"/>
              </a:rPr>
              <a:t>PRERREQUISITO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99431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Relación entre cursos requeridos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038"/>
                </a:solidFill>
                <a:latin typeface="Aptos Display"/>
              </a:defRPr>
            </a:pPr>
            <a:r>
              <a:t>Diagrama entidad-relación (ER)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80"/>
                </a:solidFill>
                <a:latin typeface="Aptos"/>
              </a:defRPr>
            </a:pPr>
            <a:r>
              <a:t>Diagrama original del documento: entidades, llaves y relaciones del 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40080" cy="4572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06" y="1618487"/>
            <a:ext cx="5931482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04 · INTEGRIDAD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Relaciones y reglas de la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50876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Relaciones principales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482803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Facultad 1:N Curso
• Curso 1:N Grupo
• Estudiante 1:N Matrícula
• Grupo 1:N Matrícula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150876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Llaves y restricciones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40280"/>
            <a:ext cx="482803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Llaves primarias y foráneas
• Correos y nombres definidos como únicos
• Semestre: 1–12; créditos: 1–10
• Nota final: 0–5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¿Qué protege la integridad?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407408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2B69B0"/>
                </a:solidFill>
                <a:latin typeface="Aptos"/>
              </a:rPr>
              <a:t>Referencias válidas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54880"/>
            <a:ext cx="2971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No se registra una matrícula para un estudiante o grupo inexistente.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4407408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CA49A"/>
                </a:solidFill>
                <a:latin typeface="Aptos"/>
              </a:rPr>
              <a:t>Cupos controlados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754880"/>
            <a:ext cx="2971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El cupo disponible no debe superar el cupo máximo ni quedar negativo.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4407408"/>
            <a:ext cx="2971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2A34A"/>
                </a:solidFill>
                <a:latin typeface="Aptos"/>
              </a:rPr>
              <a:t>Estados permitidos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754880"/>
            <a:ext cx="2971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La base limita los estados de matrícula y del registro académico.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038"/>
                </a:solidFill>
                <a:latin typeface="Aptos Display"/>
              </a:defRPr>
            </a:pPr>
            <a:r>
              <a:t>Diseño general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80"/>
                </a:solidFill>
                <a:latin typeface="Aptos"/>
              </a:defRPr>
            </a:pPr>
            <a:r>
              <a:t>Vista del diseñador de phpMyAdmin con las siete tablas y sus relaciones.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40080" cy="4572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564" y="1618487"/>
            <a:ext cx="8678566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5508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E80"/>
                </a:solidFill>
                <a:latin typeface="Aptos"/>
              </a:defRPr>
            </a:pPr>
            <a:r>
              <a:t>El esquema relaciona Facultad, Estudiante, Curso, Grupo, Matrícula, Registro Académico y Prerrequisito.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05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Herramientas y datos de prueba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709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91440" cy="713232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792224"/>
            <a:ext cx="1600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Visual Studio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792224"/>
            <a:ext cx="2560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Escritura de scripts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350008"/>
            <a:ext cx="2743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5F6E80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33472"/>
            <a:ext cx="4709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633472"/>
            <a:ext cx="91440" cy="71323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734056"/>
            <a:ext cx="1600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XAMPP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34056"/>
            <a:ext cx="2560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Servicios Apache y MySQL/MariaDB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91839"/>
            <a:ext cx="2743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5F6E80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75304"/>
            <a:ext cx="4709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575304"/>
            <a:ext cx="91440" cy="713232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675888"/>
            <a:ext cx="1600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MariaDB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75888"/>
            <a:ext cx="2560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Motor relacional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233672"/>
            <a:ext cx="2743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5F6E80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17136"/>
            <a:ext cx="4709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517136"/>
            <a:ext cx="91440" cy="713232"/>
          </a:xfrm>
          <a:prstGeom prst="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4617720"/>
            <a:ext cx="1600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phpMyAdmin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617720"/>
            <a:ext cx="2560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53142"/>
                </a:solidFill>
                <a:latin typeface="Aptos"/>
              </a:rPr>
              <a:t>Verificación visual de tablas y relaciones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83080"/>
            <a:ext cx="4389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1CA49A"/>
                </a:solidFill>
                <a:latin typeface="Aptos"/>
              </a:rPr>
              <a:t>DATOS FICTICIOS CARGADOS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240280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350008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9B0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377440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facultades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2240280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0" y="2350008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CA49A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377440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estudiantes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44952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154680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9B0"/>
                </a:solidFill>
                <a:latin typeface="Apto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82112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cursos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044952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3154680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CA49A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182112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prerrequisitos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849624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959352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9B0"/>
                </a:solidFill>
                <a:latin typeface="Apto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grupos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3849624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0" y="3959352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CA49A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986784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matrículas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654296"/>
            <a:ext cx="2148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4764024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9B0"/>
                </a:solidFill>
                <a:latin typeface="Aptos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791456"/>
            <a:ext cx="13258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53142"/>
                </a:solidFill>
                <a:latin typeface="Aptos"/>
              </a:rPr>
              <a:t>registros académicos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440680"/>
            <a:ext cx="45720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1" dirty="0">
                <a:solidFill>
                  <a:srgbClr val="5F6E80"/>
                </a:solidFill>
                <a:latin typeface="Aptos"/>
              </a:rPr>
              <a:t>Los scripts de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inserción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pueden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ejecutarse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nuevamente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sin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duplicar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las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filas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 </a:t>
            </a:r>
            <a:r>
              <a:rPr sz="1200" b="0" i="1" dirty="0" err="1">
                <a:solidFill>
                  <a:srgbClr val="5F6E80"/>
                </a:solidFill>
                <a:latin typeface="Aptos"/>
              </a:rPr>
              <a:t>existentes</a:t>
            </a:r>
            <a:r>
              <a:rPr sz="1200" b="0" i="1" dirty="0">
                <a:solidFill>
                  <a:srgbClr val="5F6E8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038"/>
                </a:solidFill>
                <a:latin typeface="Aptos Display"/>
              </a:defRPr>
            </a:pPr>
            <a:r>
              <a:t>Evidencia de phpMyAdmin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80"/>
                </a:solidFill>
                <a:latin typeface="Aptos"/>
              </a:defRPr>
            </a:pPr>
            <a:r>
              <a:t>Capturas originales de las tablas y los datos de prueba cargados.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40080" cy="4572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269097"/>
            <a:ext cx="5349240" cy="3005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E80"/>
                </a:solidFill>
                <a:latin typeface="Aptos"/>
              </a:defRPr>
            </a:pPr>
            <a:r>
              <a:t>Vista de tablas en phpMyAdmin</a:t>
            </a:r>
          </a:p>
        </p:txBody>
      </p:sp>
      <p:pic>
        <p:nvPicPr>
          <p:cNvPr id="7" name="Picture 6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265754"/>
            <a:ext cx="5349240" cy="30122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9893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E80"/>
                </a:solidFill>
                <a:latin typeface="Aptos"/>
              </a:defRPr>
            </a:pPr>
            <a:r>
              <a:t>Datos consultados en la interfaz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06 · SCRIPTS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Comandos utilizados en 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810512"/>
            <a:ext cx="914400" cy="384048"/>
          </a:xfrm>
          <a:prstGeom prst="round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1" y="179222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Define o modifica la estructura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1" y="220370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CREATE · ALTER · DROP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19672" y="1810512"/>
            <a:ext cx="914400" cy="384048"/>
          </a:xfrm>
          <a:prstGeom prst="round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874519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179222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Inserta, actualiza y elimina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20370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INSERT · UPDATE · DELETE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" y="3227832"/>
            <a:ext cx="914400" cy="384048"/>
          </a:xfrm>
          <a:prstGeom prst="round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29184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1" y="320954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Consulta y relaciona información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1" y="362102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SELECT · JOIN · GROUP 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06324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19672" y="3227832"/>
            <a:ext cx="914400" cy="384048"/>
          </a:xfrm>
          <a:prstGeom prst="round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329184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VDL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20954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Presenta consultas como vistas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62102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CREATE 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8056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6112" y="4645152"/>
            <a:ext cx="914400" cy="384048"/>
          </a:xfrm>
          <a:prstGeom prst="round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70916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1" y="462686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Administra permisos de usuarios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1" y="503834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GRANT · REVOKE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480560"/>
            <a:ext cx="5166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19672" y="4645152"/>
            <a:ext cx="914400" cy="384048"/>
          </a:xfrm>
          <a:prstGeom prst="roundRect">
            <a:avLst/>
          </a:prstGeom>
          <a:solidFill>
            <a:srgbClr val="C25252"/>
          </a:solidFill>
          <a:ln>
            <a:solidFill>
              <a:srgbClr val="C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4709160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TCL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6952" y="4626864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122038"/>
                </a:solidFill>
                <a:latin typeface="Aptos"/>
              </a:rPr>
              <a:t>Controla transacciones y cambios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5038344"/>
            <a:ext cx="3657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5F6E80"/>
                </a:solidFill>
                <a:latin typeface="Aptos"/>
              </a:rPr>
              <a:t>START TRANSACTION · SAVEPOINT · COMMIT ·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80760"/>
            <a:ext cx="10058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1">
                <a:solidFill>
                  <a:srgbClr val="253142"/>
                </a:solidFill>
                <a:latin typeface="Aptos"/>
              </a:rPr>
              <a:t>La separación por scripts permite crear, probar y verificar cada parte de forma ordenada.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038"/>
                </a:solidFill>
                <a:latin typeface="Aptos Display"/>
              </a:defRPr>
            </a:pPr>
            <a:r>
              <a:t>Ejecución y verificación de scripts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80"/>
                </a:solidFill>
                <a:latin typeface="Aptos"/>
              </a:defRPr>
            </a:pPr>
            <a:r>
              <a:t>Capturas originales de la terminal y del entorno de desarrollo.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40080" cy="4572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" y="1865259"/>
            <a:ext cx="5349240" cy="3813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E80"/>
                </a:solidFill>
                <a:latin typeface="Aptos"/>
              </a:defRPr>
            </a:pPr>
            <a:r>
              <a:t>Ejecución de scripts</a:t>
            </a:r>
          </a:p>
        </p:txBody>
      </p:sp>
      <p:pic>
        <p:nvPicPr>
          <p:cNvPr id="7" name="Picture 6" descr="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810123"/>
            <a:ext cx="5349240" cy="3923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9893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E80"/>
                </a:solidFill>
                <a:latin typeface="Aptos"/>
              </a:defRPr>
            </a:pPr>
            <a:r>
              <a:t>Verificación de datos y consultas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07 · CONSULTAS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¿Qué información puede obtenerse?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50876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Consultas DQL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482803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Estudiantes registrados
• Curso, horario, profesor y estado de matrícula
• Grupos con más cupos libres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50876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Análisis académico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82803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Promedio de notas por estudiante
• Cantidad de cursos aprobados
• Cursos con dos o más matrículas activas
• Cursos y sus prerrequisitos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Vistas creadas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73152" cy="128016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1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vista_oferta_grupos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0600"/>
            <a:ext cx="4828032" cy="5669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53142"/>
                </a:solidFill>
                <a:latin typeface="Aptos"/>
              </a:rPr>
              <a:t>Muestra curso, créditos, facultad, horario, profesor y cupo disponible.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73152" cy="128016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4370831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vista_matriculas_activas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800600"/>
            <a:ext cx="4828032" cy="5669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53142"/>
                </a:solidFill>
                <a:latin typeface="Aptos"/>
              </a:rPr>
              <a:t>Muestra matrículas activas con estudiante, programa, curso y fecha.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08 · CONTROL DE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Permisos y transacciones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8288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Control de acceso (DCL)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4828032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Secretaría: consulta, inserta y actualiza estudiantes y matrículas.
• Docente: lectura de tablas y actualización de nota final/estado.
• GRANT y REVOKE asignan o retiran permisos.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82880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Transacciones (TCL)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828032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START TRANSACTION inicia cambios provisionales.
• SAVEPOINT crea un punto de control.
• ROLLBACK TO revierte cambios posteriores.
• COMMIT confirma lo que se conserva.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Ejemplo del script TCL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26280"/>
            <a:ext cx="19385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663440"/>
            <a:ext cx="171907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CA49A"/>
                </a:solidFill>
                <a:latin typeface="Aptos"/>
              </a:rPr>
              <a:t>Inscribe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10912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253142"/>
                </a:solidFill>
                <a:latin typeface="Aptos"/>
              </a:rPr>
              <a:t>primer estudiante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828032"/>
            <a:ext cx="274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9232" y="4526280"/>
            <a:ext cx="19385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4663440"/>
            <a:ext cx="171907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2B69B0"/>
                </a:solidFill>
                <a:latin typeface="Aptos"/>
              </a:rPr>
              <a:t>Guarda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5010912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253142"/>
                </a:solidFill>
                <a:latin typeface="Aptos"/>
              </a:rPr>
              <a:t>SAVEPOINT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828032"/>
            <a:ext cx="274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4526280"/>
            <a:ext cx="19385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76672" y="4663440"/>
            <a:ext cx="171907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2B69B0"/>
                </a:solidFill>
                <a:latin typeface="Aptos"/>
              </a:rPr>
              <a:t>Prueba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3" y="5010912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253142"/>
                </a:solidFill>
                <a:latin typeface="Aptos"/>
              </a:rPr>
              <a:t>segunda matrícula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4828032"/>
            <a:ext cx="274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4526280"/>
            <a:ext cx="19385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44383" y="4663440"/>
            <a:ext cx="171907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2B69B0"/>
                </a:solidFill>
                <a:latin typeface="Aptos"/>
              </a:rPr>
              <a:t>Revierte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5010912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253142"/>
                </a:solidFill>
                <a:latin typeface="Aptos"/>
              </a:rPr>
              <a:t>ROLLBACK 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4828032"/>
            <a:ext cx="274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5F6E80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8" y="4526280"/>
            <a:ext cx="193852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12096" y="4663440"/>
            <a:ext cx="171907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 i="0">
                <a:solidFill>
                  <a:srgbClr val="1CA49A"/>
                </a:solidFill>
                <a:latin typeface="Aptos"/>
              </a:rPr>
              <a:t>Confirma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5010912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253142"/>
                </a:solidFill>
                <a:latin typeface="Aptos"/>
              </a:rPr>
              <a:t>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10698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1">
                <a:solidFill>
                  <a:srgbClr val="5F6E80"/>
                </a:solidFill>
                <a:latin typeface="Aptos"/>
              </a:rPr>
              <a:t>El objetivo es conservar una operación correcta y deshacer únicamente la parte que se detectó como 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1CA49A"/>
                </a:solidFill>
                <a:latin typeface="Aptos"/>
              </a:rPr>
              <a:t>09 ·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122038"/>
                </a:solidFill>
                <a:latin typeface="Aptos"/>
              </a:rPr>
              <a:t>Normalización y aspectos por mejorar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566928" cy="50292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5F6E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645920"/>
          </a:xfrm>
          <a:prstGeom prst="rect">
            <a:avLst/>
          </a:prstGeom>
          <a:solidFill>
            <a:srgbClr val="40916C"/>
          </a:solidFill>
          <a:ln>
            <a:solidFill>
              <a:srgbClr val="40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Normalización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4828032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53142"/>
                </a:solidFill>
                <a:latin typeface="Aptos"/>
              </a:rPr>
              <a:t>El modelo cumple, en general, con 1FN, 2FN y 3FN: campos atómicos, dependencias correctas y menos redundancia.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645920"/>
          </a:xfrm>
          <a:prstGeom prst="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Decisiones conscientes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828032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 i="0">
                <a:solidFill>
                  <a:srgbClr val="253142"/>
                </a:solidFill>
                <a:latin typeface="Aptos"/>
              </a:rPr>
              <a:t>• cupo_disponible se guarda para consultar más rápido y debe actualizarse.
• horario se almacena como texto para simplificar el modelo.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9260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Mejoras futuras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73152" cy="123444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50799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Franjas horarias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937760"/>
            <a:ext cx="4828032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53142"/>
                </a:solidFill>
                <a:latin typeface="Aptos"/>
              </a:rPr>
              <a:t>Separar días y horas en una tabla propia para validar cruces automáticamente.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43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343400"/>
            <a:ext cx="73152" cy="1234440"/>
          </a:xfrm>
          <a:prstGeom prst="rect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450799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122038"/>
                </a:solidFill>
                <a:latin typeface="Aptos"/>
              </a:rPr>
              <a:t>Actualización de cupos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937760"/>
            <a:ext cx="4828032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53142"/>
                </a:solidFill>
                <a:latin typeface="Aptos"/>
              </a:rPr>
              <a:t>Usar triggers para mantener el cupo disponible sincronizado con las matrículas.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1CA49A"/>
                </a:solidFill>
                <a:latin typeface="Aptos"/>
              </a:rPr>
              <a:t>10 ·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Una base funcional, organizada y verificable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93391"/>
            <a:ext cx="329184" cy="329184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48255"/>
            <a:ext cx="32918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965960"/>
            <a:ext cx="9509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El modelo entidad-relación se implementó en MariaDB con siete tablas y relaciones mediante llaves foráneas.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16351"/>
            <a:ext cx="329184" cy="329184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71215"/>
            <a:ext cx="32918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788920"/>
            <a:ext cx="9509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Las restricciones protegen datos, rangos, estados permitidos y control de cupos.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39312"/>
            <a:ext cx="329184" cy="329184"/>
          </a:xfrm>
          <a:prstGeom prst="ellipse">
            <a:avLst/>
          </a:prstGeom>
          <a:solidFill>
            <a:srgbClr val="1CA49A"/>
          </a:solidFill>
          <a:ln>
            <a:solidFill>
              <a:srgbClr val="1C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4176"/>
            <a:ext cx="32918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611880"/>
            <a:ext cx="9509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Los scripts SQL demuestran creación, manipulación, consulta, vistas, permisos y transacciones.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329184" cy="329184"/>
          </a:xfrm>
          <a:prstGeom prst="ellipse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17136"/>
            <a:ext cx="329184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434840"/>
            <a:ext cx="9509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El siguiente paso es automatizar la validación de horarios y el mantenimiento de cupos.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623560"/>
            <a:ext cx="731520" cy="54864"/>
          </a:xfrm>
          <a:prstGeom prst="rect">
            <a:avLst/>
          </a:prstGeom>
          <a:solidFill>
            <a:srgbClr val="F2A34A"/>
          </a:solidFill>
          <a:ln>
            <a:solidFill>
              <a:srgbClr val="F2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1010</Words>
  <Application>Microsoft Office PowerPoint</Application>
  <PresentationFormat>Panorámica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USER</dc:creator>
  <cp:keywords/>
  <dc:description>generated using python-pptx</dc:description>
  <cp:lastModifiedBy>Sebastian Castro</cp:lastModifiedBy>
  <cp:revision>3</cp:revision>
  <dcterms:created xsi:type="dcterms:W3CDTF">2013-01-27T09:14:16Z</dcterms:created>
  <dcterms:modified xsi:type="dcterms:W3CDTF">2026-10-12T23:03:28Z</dcterms:modified>
  <cp:category/>
</cp:coreProperties>
</file>